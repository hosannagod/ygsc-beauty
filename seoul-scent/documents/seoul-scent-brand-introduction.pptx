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hosannagod@gmail.com" TargetMode="External"/><Relationship Id="rId3" Type="http://schemas.openxmlformats.org/officeDocument/2006/relationships/hyperlink" Target="https://www.seoulscent.k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BRAND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01 / 08</a:t>
            </a:r>
          </a:p>
        </p:txBody>
      </p:sp>
      <p:pic>
        <p:nvPicPr>
          <p:cNvPr id="6" name="Picture 5" descr="seoul-scent-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400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A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766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A98BD4"/>
                </a:solidFill>
                <a:latin typeface="Noto Sans CJK KR"/>
              </a:defRPr>
            </a:pPr>
            <a:r>
              <a:t>브랜드 협찬 서비스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80644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143D32"/>
                </a:solidFill>
                <a:latin typeface="Noto Sans CJK KR"/>
              </a:defRPr>
            </a:pPr>
            <a:r>
              <a:t>K-뷰티 브랜드와 글로벌 크리에이터를 연결합니다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96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64746B"/>
                </a:solidFill>
                <a:latin typeface="Noto Sans CJK KR"/>
              </a:defRPr>
            </a:pPr>
            <a: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WHY SEOUL SCENT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43D32"/>
                </a:solidFill>
                <a:latin typeface="Noto Sans CJK KR"/>
              </a:defRPr>
            </a:pPr>
            <a:r>
              <a:t>브랜드의 제품을, 크리에이터의 언어로.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4746B"/>
                </a:solidFill>
                <a:latin typeface="Noto Sans CJK KR"/>
              </a:defRPr>
            </a:pPr>
            <a:r>
              <a:t>한국에 거주하는 외국인 크리에이터와 함께 제품 경험을 SNS 콘텐츠로 전달합니다.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01 / PRODUCT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직접 경험한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제품 이야기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제품 체험을 바탕으로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사용감과 특징을 담은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콘텐츠 제작을 연결합니다.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0604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60604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0720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02 / GLOBAL CREATORS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다양한 언어와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SNS 채널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크리에이터의 활동 채널과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콘텐츠 스타일을 확인하고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브랜드에 맞는 참여자를 고릅니다.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60604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60604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0720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03 / CAMPAIGN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832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신청부터 제출까지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한곳에서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8912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개별 메시지에 흩어지던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지원 정보와 콘텐츠 링크를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캠페인별로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CREATOR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AF9F3"/>
                </a:solidFill>
                <a:latin typeface="Noto Sans CJK KR"/>
              </a:defRPr>
            </a:pPr>
            <a:r>
              <a:t>함께할 크리에이터 네트워크가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AF9F3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FAF9F3"/>
                </a:solidFill>
                <a:latin typeface="Noto Sans CJK KR"/>
              </a:defRPr>
            </a:pPr>
            <a: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3977639" cy="2514600"/>
          </a:xfrm>
          <a:prstGeom prst="roundRect">
            <a:avLst>
              <a:gd name="adj" fmla="val 8000"/>
            </a:avLst>
          </a:prstGeom>
          <a:solidFill>
            <a:srgbClr val="245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2423160"/>
            <a:ext cx="6766560" cy="2514600"/>
          </a:xfrm>
          <a:prstGeom prst="roundRect">
            <a:avLst>
              <a:gd name="adj" fmla="val 8000"/>
            </a:avLst>
          </a:prstGeom>
          <a:solidFill>
            <a:srgbClr val="245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AF9F3"/>
                </a:solidFill>
                <a:latin typeface="Noto Sans CJK KR"/>
              </a:defRPr>
            </a:pPr>
            <a:r>
              <a:t>등록 인플루언서 계정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900" b="1">
                <a:solidFill>
                  <a:srgbClr val="FAF9F3"/>
                </a:solidFill>
                <a:latin typeface="Noto Sans CJK KR"/>
              </a:defRPr>
            </a:pPr>
            <a:r>
              <a:t>283명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688336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AF9F3"/>
                </a:solidFill>
                <a:latin typeface="Noto Sans CJK KR"/>
              </a:defRPr>
            </a:pPr>
            <a:r>
              <a:t>등록 대표 SNS 채널 팔로워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40156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900" b="1">
                <a:solidFill>
                  <a:srgbClr val="A98BD4"/>
                </a:solidFill>
                <a:latin typeface="Noto Sans CJK KR"/>
              </a:defRPr>
            </a:pPr>
            <a:r>
              <a:t>3,086,147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303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AF9F3"/>
                </a:solidFill>
                <a:latin typeface="Noto Sans CJK KR"/>
              </a:defRPr>
            </a:pPr>
            <a:r>
              <a:t>Instagram  ·  TikTok  ·  Xiaohongshu  ·  YouTube  · 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7900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D0DDCF"/>
                </a:solidFill>
                <a:latin typeface="Noto Sans CJK KR"/>
              </a:defRPr>
            </a:pPr>
            <a:r>
              <a:t>2026.10.12 기준. 계정별 팔로워 수의 단순 합산이며 일부 표시값 환산 수치가 포함됩니다.</a:t>
            </a:r>
          </a:p>
          <a:p>
            <a:pPr>
              <a:spcAft>
                <a:spcPts val="900"/>
              </a:spcAft>
              <a:defRPr sz="1000" b="0">
                <a:solidFill>
                  <a:srgbClr val="D0DDCF"/>
                </a:solidFill>
                <a:latin typeface="Noto Sans CJK KR"/>
              </a:defRPr>
            </a:pPr>
            <a:r>
              <a:t>팔로워 중복을 제거한 고유 도달 인원이 아니며, 조회수·구매 전환·매출을 보장하지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43D32"/>
                </a:solidFill>
                <a:latin typeface="Noto Sans CJK KR"/>
              </a:defRPr>
            </a:pPr>
            <a:r>
              <a:t>협찬 캠페인 운영에 필요한 기능을 모았습니다.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536752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43D32"/>
                </a:solidFill>
                <a:latin typeface="Noto Sans CJK KR"/>
              </a:defRPr>
            </a:pPr>
            <a:r>
              <a:t>캠페인 개설·수정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99815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제품 소개·사진·제품 링크·가이드와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모집 일정, 콘텐츠 제출 일정을 설정합니다.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36752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328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43D32"/>
                </a:solidFill>
                <a:latin typeface="Noto Sans CJK KR"/>
              </a:defRPr>
            </a:pPr>
            <a:r>
              <a:t>크리에이터 비교·선정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99815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SNS 링크·팔로워 수·등급·완료 참여 횟수를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확인하고 여러 지원자를 한 번에 선정합니다.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24527"/>
            <a:ext cx="536752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25695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43D32"/>
                </a:solidFill>
                <a:latin typeface="Noto Sans CJK KR"/>
              </a:defRPr>
            </a:pPr>
            <a:r>
              <a:t>콘텐츠 제출·검토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92623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초안 검토가 필요한 캠페인은 링크를 받고,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최종 콘텐츠 링크까지 캠페인별로 관리합니다.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24527"/>
            <a:ext cx="536752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25695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43D32"/>
                </a:solidFill>
                <a:latin typeface="Noto Sans CJK KR"/>
              </a:defRPr>
            </a:pPr>
            <a:r>
              <a:t>참여 이력·명단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92623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과거 참여 프로젝트와 콘텐츠 링크를 확인하고,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명단과 팔로워 집계를 엑셀로 내려받습니다.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43D32"/>
                </a:solidFill>
                <a:latin typeface="Noto Sans CJK KR"/>
              </a:defRPr>
            </a:pPr>
            <a:r>
              <a:t>이렇게 협찬 캠페인이 진행됩니다.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05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12848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774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캠페인 개설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358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제품·조건·모집 인원과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일정을 입력합니다.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212848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4231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인플루언서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358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프로필과 활동 이력을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확인할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212848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774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4231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최종 선정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0358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지원자를 선택한 후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선정 안내 메일을 보냅니다.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25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708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배송 정보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834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선정된 참여자가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배송지를 입력합니다.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4160520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325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3708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초안 검토 ·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필요한 캠페인에서만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초안 링크를 검토합니다.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4160520"/>
            <a:ext cx="35387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43251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A98BD4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43708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43D32"/>
                </a:solidFill>
                <a:latin typeface="Noto Sans CJK KR"/>
              </a:defRPr>
            </a:pPr>
            <a:r>
              <a:t>최종 링크 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9834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게시된 콘텐츠와</a:t>
            </a:r>
          </a:p>
          <a:p>
            <a:pPr>
              <a:spcAft>
                <a:spcPts val="900"/>
              </a:spcAft>
              <a:defRPr sz="1500" b="0">
                <a:solidFill>
                  <a:srgbClr val="64746B"/>
                </a:solidFill>
                <a:latin typeface="Noto Sans CJK KR"/>
              </a:defRPr>
            </a:pPr>
            <a:r>
              <a:t>진행 상태를 확인합니다.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CAMPAIGN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43D32"/>
                </a:solidFill>
                <a:latin typeface="Noto Sans CJK KR"/>
              </a:defRPr>
            </a:pPr>
            <a:r>
              <a:t>제품과 목적에 맞춰 조건을 설계하세요.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06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제품 제공형 /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유료 캠페인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제품 제공과 보상 방식을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캠페인별로 안내합니다.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현금 보상은 별도 조건입니다.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3172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328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CONTENT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초안 검토를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필요할 때만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초안 검토를 켜거나 끄고,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검토용 링크와 최종 제출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일정을 설정합니다.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331720"/>
            <a:ext cx="59436" cy="3383280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328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A98BD4"/>
                </a:solidFill>
                <a:latin typeface="Noto Sans CJK KR"/>
              </a:defRPr>
            </a:pPr>
            <a:r>
              <a:t>CONTENT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2차 활용·</a:t>
            </a:r>
          </a:p>
          <a:p>
            <a:pPr>
              <a:spcAft>
                <a:spcPts val="900"/>
              </a:spcAft>
              <a:defRPr sz="2200" b="1">
                <a:solidFill>
                  <a:srgbClr val="143D32"/>
                </a:solidFill>
                <a:latin typeface="Noto Sans CJK KR"/>
              </a:defRPr>
            </a:pPr>
            <a:r>
              <a:t>원본 제공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콘텐츠 활용 범위와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원본 제공 여부를</a:t>
            </a:r>
          </a:p>
          <a:p>
            <a:pPr>
              <a:spcAft>
                <a:spcPts val="900"/>
              </a:spcAft>
              <a:defRPr sz="1600" b="0">
                <a:solidFill>
                  <a:srgbClr val="64746B"/>
                </a:solidFill>
                <a:latin typeface="Noto Sans CJK KR"/>
              </a:defRPr>
            </a:pPr>
            <a:r>
              <a:t>캠페인에서 안내합니다.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070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4746B"/>
                </a:solidFill>
                <a:latin typeface="Noto Sans CJK KR"/>
              </a:defRPr>
            </a:pPr>
            <a:r>
              <a:t>제작 수량·보상·일정·콘텐츠 활용 조건은 캠페인별로 사전에 명확히 안내합니다.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ACTIVITY ARCHIVE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43D32"/>
                </a:solidFill>
                <a:latin typeface="Noto Sans CJK KR"/>
              </a:defRPr>
            </a:pPr>
            <a:r>
              <a:t>브랜드별 참여 이력과 콘텐츠를 축적합니다.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6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64746B"/>
                </a:solidFill>
                <a:latin typeface="Noto Sans CJK KR"/>
              </a:defRPr>
            </a:pPr>
            <a:r>
              <a:t>07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4746B"/>
                </a:solidFill>
                <a:latin typeface="Noto Sans CJK KR"/>
              </a:defRPr>
            </a:pPr>
            <a:r>
              <a:t>아래 브랜드의 기존 콘텐츠 제출·참여 이력을 운영 시스템에서 관리하고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24912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907792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Aeluri Formula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724912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907792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뷰티비티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24912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907792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두유본색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724912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2907792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로레코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49039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93192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배리홉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49039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393192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테리브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2615184" cy="795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3192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베일코스메틱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11496"/>
            <a:ext cx="11018520" cy="868680"/>
          </a:xfrm>
          <a:prstGeom prst="roundRect">
            <a:avLst>
              <a:gd name="adj" fmla="val 8000"/>
            </a:avLst>
          </a:prstGeom>
          <a:solidFill>
            <a:srgbClr val="EE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3400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3D32"/>
                </a:solidFill>
                <a:latin typeface="Noto Sans CJK KR"/>
              </a:defRPr>
            </a:pPr>
            <a:r>
              <a:t>참여자별 콘텐츠 링크  /  완료 참여 횟수  /  과거 프로젝트 이력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A98BD4"/>
                </a:solidFill>
                <a:latin typeface="Noto Sans CJK KR"/>
              </a:defRPr>
            </a:pPr>
            <a:r>
              <a:t>SEOUL SCENT  / 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AF9F3"/>
                </a:solidFill>
                <a:latin typeface="Noto Sans CJK KR"/>
              </a:defRPr>
            </a:pPr>
            <a:r>
              <a:t>다음 협찬 캠페인을 Seoul Scent에서 시작하세요.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A9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AF9F3"/>
                </a:solidFill>
                <a:latin typeface="Noto Sans CJK KR"/>
              </a:defRPr>
            </a:pPr>
            <a:r>
              <a:t>YGSC  ·  www.seoulscent.kr  ·  BRAND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900"/>
              </a:spcAft>
              <a:defRPr sz="900" b="0">
                <a:solidFill>
                  <a:srgbClr val="FAF9F3"/>
                </a:solidFill>
                <a:latin typeface="Noto Sans CJK KR"/>
              </a:defRPr>
            </a:pPr>
            <a:r>
              <a:t>08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FAF9F3"/>
                </a:solidFill>
                <a:latin typeface="Noto Sans CJK KR"/>
              </a:defRPr>
            </a:pPr>
            <a:r>
              <a:t>제품과 희망 일정, 모집 인원을 알려주세요.</a:t>
            </a:r>
          </a:p>
          <a:p>
            <a:pPr>
              <a:spcAft>
                <a:spcPts val="900"/>
              </a:spcAft>
              <a:defRPr sz="2100" b="0">
                <a:solidFill>
                  <a:srgbClr val="FAF9F3"/>
                </a:solidFill>
                <a:latin typeface="Noto Sans CJK KR"/>
              </a:defRPr>
            </a:pPr>
            <a:r>
              <a:t>캠페인 개설과 참여자 선정에 필요한 정보를 안내합니다.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310128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245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AF9F3"/>
                </a:solidFill>
                <a:latin typeface="Noto Sans CJK KR"/>
              </a:defRPr>
            </a:pPr>
            <a:r>
              <a:t>브랜드명  ·  제품 정보  ·  희망 일정  ·  모집 인원  ·  보상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A98BD4"/>
                </a:solidFill>
                <a:latin typeface="Noto Sans CJK KR"/>
              </a:defRPr>
            </a:pPr>
            <a:r>
              <a:rPr>
                <a:hlinkClick r:id="rId2"/>
              </a:rPr>
              <a:t>hosannagod@gmail.com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7725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AF9F3"/>
                </a:solidFill>
                <a:latin typeface="Noto Sans CJK KR"/>
              </a:defRPr>
            </a:pPr>
            <a:r>
              <a:rPr>
                <a:hlinkClick r:id="rId3"/>
              </a:rPr>
              <a:t>https://www.seoulscent.kr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98BD4"/>
      </a:hlink>
      <a:folHlink>
        <a:srgbClr val="A98B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Seoul Scent 브랜드 협찬 서비스 소개서</dc:title>
  <dc:subject>K-뷰티 브랜드와 글로벌 크리에이터의 협찬 캠페인</dc:subject>
  <dc:creator>YGSC</dc:creator>
  <cp:keywords>Seoul Scent, K-Beauty, Influencer, Brand Partnerships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